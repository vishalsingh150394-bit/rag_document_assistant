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3170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chemeClr val="accent1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ishalsingh150394-bit/RAG_Document_Assistant.git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ragdocumentassistant-pgjm8xjhx3s9gskesy6jdn.streamlit.ap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bg1"/>
                </a:solidFill>
              </a:rPr>
              <a:t>RAG-Based Intelligent Document Assistant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560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</a:rPr>
              <a:t>Question answering over PDFs, text and web pages with LangChain + LlamaIndex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108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1"/>
                </a:solidFill>
              </a:rPr>
              <a:t>Semantic retrieval · cited answers · multi-document search · summaries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Assignment 1.2  |  Vishal Singh  |  Advanced Data Analytics &amp; Gen AI, IIT Roorkee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answers you can verify</a:t>
            </a:r>
            <a:endParaRPr lang="en-US" sz="2600" dirty="0"/>
          </a:p>
        </p:txBody>
      </p:sp>
      <p:sp>
        <p:nvSpPr>
          <p:cNvPr id="3" name="card0"/>
          <p:cNvSpPr/>
          <p:nvPr/>
        </p:nvSpPr>
        <p:spPr>
          <a:xfrm>
            <a:off x="457200" y="1097280"/>
            <a:ext cx="4023360" cy="1417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Ingest documents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27632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PDFs (page by page), text files and web pages become LlamaIndex Documents with file and page metadata.</a:t>
            </a:r>
            <a:endParaRPr lang="en-US" sz="1200" dirty="0"/>
          </a:p>
        </p:txBody>
      </p:sp>
      <p:sp>
        <p:nvSpPr>
          <p:cNvPr id="6" name="card1"/>
          <p:cNvSpPr/>
          <p:nvPr/>
        </p:nvSpPr>
        <p:spPr>
          <a:xfrm>
            <a:off x="4663440" y="1097280"/>
            <a:ext cx="4023360" cy="1417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Index and retrieve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627632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Chunks are embedded locally and stored in a VectorStoreIndex; a retriever finds the closest passages, optionally inside chosen documents.</a:t>
            </a:r>
            <a:endParaRPr lang="en-US" sz="1200" dirty="0"/>
          </a:p>
        </p:txBody>
      </p:sp>
      <p:sp>
        <p:nvSpPr>
          <p:cNvPr id="9" name="card2"/>
          <p:cNvSpPr/>
          <p:nvPr/>
        </p:nvSpPr>
        <p:spPr>
          <a:xfrm>
            <a:off x="457200" y="2697480"/>
            <a:ext cx="4023360" cy="1417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834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Generate with LangChain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227832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Prompt templates and LCEL chains send the passages to the LLM; a Pydantic parser returns a typed answer.</a:t>
            </a:r>
            <a:endParaRPr lang="en-US" sz="1200" dirty="0"/>
          </a:p>
        </p:txBody>
      </p:sp>
      <p:sp>
        <p:nvSpPr>
          <p:cNvPr id="12" name="card3"/>
          <p:cNvSpPr/>
          <p:nvPr/>
        </p:nvSpPr>
        <p:spPr>
          <a:xfrm>
            <a:off x="4663440" y="2697480"/>
            <a:ext cx="4023360" cy="1417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2834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Trust and extras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3227832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Every answer lists its sources; unanswerable questions are flagged; follow-ups, multi-document search and summaries are supported.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LlamaIndex finds, LangChain answers</a:t>
            </a:r>
            <a:endParaRPr lang="en-US" sz="2600" dirty="0"/>
          </a:p>
        </p:txBody>
      </p:sp>
      <p:sp>
        <p:nvSpPr>
          <p:cNvPr id="3" name="step0"/>
          <p:cNvSpPr/>
          <p:nvPr/>
        </p:nvSpPr>
        <p:spPr>
          <a:xfrm>
            <a:off x="457200" y="1143000"/>
            <a:ext cx="1463040" cy="137160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1252728"/>
            <a:ext cx="1243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</a:rPr>
              <a:t>1. Ingest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709928"/>
            <a:ext cx="12435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</a:rPr>
              <a:t>PDF pages, TXT, web pages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16459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5"/>
                </a:solidFill>
              </a:rPr>
              <a:t>›</a:t>
            </a:r>
            <a:endParaRPr lang="en-US" sz="2200" dirty="0"/>
          </a:p>
        </p:txBody>
      </p:sp>
      <p:sp>
        <p:nvSpPr>
          <p:cNvPr id="7" name="step1"/>
          <p:cNvSpPr/>
          <p:nvPr/>
        </p:nvSpPr>
        <p:spPr>
          <a:xfrm>
            <a:off x="2148840" y="1143000"/>
            <a:ext cx="1463040" cy="137160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58568" y="1252728"/>
            <a:ext cx="1243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</a:rPr>
              <a:t>2. Chunk + embed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258568" y="1709928"/>
            <a:ext cx="12435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</a:rPr>
              <a:t>SentenceSplitter, MiniLM embeddings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16459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5"/>
                </a:solidFill>
              </a:rPr>
              <a:t>›</a:t>
            </a:r>
            <a:endParaRPr lang="en-US" sz="2200" dirty="0"/>
          </a:p>
        </p:txBody>
      </p:sp>
      <p:sp>
        <p:nvSpPr>
          <p:cNvPr id="11" name="step2"/>
          <p:cNvSpPr/>
          <p:nvPr/>
        </p:nvSpPr>
        <p:spPr>
          <a:xfrm>
            <a:off x="3840480" y="1143000"/>
            <a:ext cx="1463040" cy="137160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50208" y="1252728"/>
            <a:ext cx="1243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</a:rPr>
              <a:t>3. Index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950208" y="1709928"/>
            <a:ext cx="12435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</a:rPr>
              <a:t>VectorStoreIndex, saved to disk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5303520" y="16459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5"/>
                </a:solidFill>
              </a:rPr>
              <a:t>›</a:t>
            </a:r>
            <a:endParaRPr lang="en-US" sz="2200" dirty="0"/>
          </a:p>
        </p:txBody>
      </p:sp>
      <p:sp>
        <p:nvSpPr>
          <p:cNvPr id="15" name="step3"/>
          <p:cNvSpPr/>
          <p:nvPr/>
        </p:nvSpPr>
        <p:spPr>
          <a:xfrm>
            <a:off x="5532120" y="1143000"/>
            <a:ext cx="1463040" cy="137160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41848" y="1252728"/>
            <a:ext cx="1243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</a:rPr>
              <a:t>4. Retrieve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641848" y="1709928"/>
            <a:ext cx="12435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</a:rPr>
              <a:t>Top-k passages with document filter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995160" y="16459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5"/>
                </a:solidFill>
              </a:rPr>
              <a:t>›</a:t>
            </a:r>
            <a:endParaRPr lang="en-US" sz="2200" dirty="0"/>
          </a:p>
        </p:txBody>
      </p:sp>
      <p:sp>
        <p:nvSpPr>
          <p:cNvPr id="19" name="step4"/>
          <p:cNvSpPr/>
          <p:nvPr/>
        </p:nvSpPr>
        <p:spPr>
          <a:xfrm>
            <a:off x="7223760" y="1143000"/>
            <a:ext cx="1463040" cy="1371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33488" y="1252728"/>
            <a:ext cx="1243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</a:rPr>
              <a:t>5. Generate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333488" y="1709928"/>
            <a:ext cx="12435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</a:rPr>
              <a:t>Prompt, LLM, parser, answer + sources</a:t>
            </a:r>
            <a:endParaRPr lang="en-US" sz="1050" dirty="0"/>
          </a:p>
        </p:txBody>
      </p:sp>
      <p:sp>
        <p:nvSpPr>
          <p:cNvPr id="22" name="li"/>
          <p:cNvSpPr/>
          <p:nvPr/>
        </p:nvSpPr>
        <p:spPr>
          <a:xfrm>
            <a:off x="457200" y="2743200"/>
            <a:ext cx="4023360" cy="19202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290779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LlamaIndex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342900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SimpleDirectoryReader and Documents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SentenceSplitter, VectorStoreIndex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Retriever with metadata filters, persistence</a:t>
            </a:r>
            <a:endParaRPr lang="en-US" sz="1200" dirty="0"/>
          </a:p>
        </p:txBody>
      </p:sp>
      <p:sp>
        <p:nvSpPr>
          <p:cNvPr id="25" name="lc"/>
          <p:cNvSpPr/>
          <p:nvPr/>
        </p:nvSpPr>
        <p:spPr>
          <a:xfrm>
            <a:off x="4663440" y="2743200"/>
            <a:ext cx="4023360" cy="19202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92040" y="290779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LangChain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4892040" y="342900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ChatPromptTemplate and LCEL chains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LLM via Groq (gpt-oss-20b), provider switch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PydanticOutputParser, map-reduce summaries</a:t>
            </a:r>
            <a:endParaRPr lang="en-US" sz="12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and indexing: six sources, one index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5120640" cy="242316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Source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6E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6E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Chunks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6E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</a:rPr>
                        <a:t>rolling_forecast_guide, variance_analysis_policy, ecommerce_kpi_handbook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</a:rPr>
                        <a:t>Text (3 files)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</a:rPr>
                        <a:t>2 each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</a:rPr>
                        <a:t>Acme_Retail_Q2_Business_Review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</a:rPr>
                        <a:t>PDF, 3 pages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</a:rPr>
                        <a:t>9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</a:rPr>
                        <a:t>Acme_Retail_Annual_Report_FY2025-26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</a:rPr>
                        <a:t>PDF, 6 pages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</a:rPr>
                        <a:t>16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</a:rPr>
                        <a:t>Retrieval-augmented generation (Wikipedia)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</a:rPr>
                        <a:t>Web page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</a:rPr>
                        <a:t>81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dc"/>
          <p:cNvSpPr/>
          <p:nvPr/>
        </p:nvSpPr>
        <p:spPr>
          <a:xfrm>
            <a:off x="5852160" y="1097280"/>
            <a:ext cx="2834640" cy="34747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" name="Text 2"/>
          <p:cNvSpPr txBox="1"/>
          <p:nvPr/>
        </p:nvSpPr>
        <p:spPr>
          <a:xfrm>
            <a:off x="6080760" y="12618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Design choices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6080760" y="1783080"/>
            <a:ext cx="2377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PDF pages keep page numbers for citations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Chunks of 512 tokens with 64 overlap (128 for the short samples)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Local MiniLM embeddings: free, no API key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Index saved and reloaded without re-embedding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question to cited answer</a:t>
            </a:r>
            <a:endParaRPr lang="en-US" sz="2600" dirty="0"/>
          </a:p>
        </p:txBody>
      </p:sp>
      <p:sp>
        <p:nvSpPr>
          <p:cNvPr id="3" name="ret"/>
          <p:cNvSpPr/>
          <p:nvPr/>
        </p:nvSpPr>
        <p:spPr>
          <a:xfrm>
            <a:off x="457200" y="1097280"/>
            <a:ext cx="4023360" cy="34747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6187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Retrieval (LlamaIndex)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8308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Follow-up questions are rewritten into standalone questions using the chat history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Retriever returns top-k passages by embedding similarity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Optional filter on file_name to search one or several documents</a:t>
            </a:r>
            <a:endParaRPr lang="en-US" sz="1200" dirty="0"/>
          </a:p>
        </p:txBody>
      </p:sp>
      <p:sp>
        <p:nvSpPr>
          <p:cNvPr id="6" name="gen"/>
          <p:cNvSpPr/>
          <p:nvPr/>
        </p:nvSpPr>
        <p:spPr>
          <a:xfrm>
            <a:off x="4663440" y="1097280"/>
            <a:ext cx="4023360" cy="34747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26187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Generation (LangChain)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78308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Passages are numbered and placed in the prompt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Instruction: answer only from context, say so if missing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PydanticOutputParser returns answer, cited passage numbers and found_in_documents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If parsing fails, the plain text is used as a fallback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questions over PDFs with page citations</a:t>
            </a:r>
            <a:endParaRPr lang="en-US" sz="2600" dirty="0"/>
          </a:p>
        </p:txBody>
      </p:sp>
      <p:sp>
        <p:nvSpPr>
          <p:cNvPr id="3" name="qa1"/>
          <p:cNvSpPr/>
          <p:nvPr/>
        </p:nvSpPr>
        <p:spPr>
          <a:xfrm>
            <a:off x="457200" y="1097280"/>
            <a:ext cx="8229600" cy="1600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070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4"/>
                </a:solidFill>
              </a:rPr>
              <a:t>Q: What was the net revenue and contribution margin in FY2025-26?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55448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Net revenue was INR 4,820 crore and contribution margin was 8.4% in FY2025-26.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3134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accent5"/>
                </a:solidFill>
              </a:rPr>
              <a:t>Source: Annual Report page 2 (financial highlights table, rows kept intact by layout-aware PDF reading)</a:t>
            </a:r>
            <a:endParaRPr lang="en-US" sz="1050" dirty="0"/>
          </a:p>
        </p:txBody>
      </p:sp>
      <p:sp>
        <p:nvSpPr>
          <p:cNvPr id="7" name="qa2"/>
          <p:cNvSpPr/>
          <p:nvPr/>
        </p:nvSpPr>
        <p:spPr>
          <a:xfrm>
            <a:off x="457200" y="2834640"/>
            <a:ext cx="8229600" cy="17373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9443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4"/>
                </a:solidFill>
              </a:rPr>
              <a:t>Q: How did the Q2 CAC compare with the full-year CAC and the target? (two PDFs)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2918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The Q2 CAC was INR 418, which is lower than the full-year CAC of INR 430 and also below the internal target of INR 450.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4187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accent5"/>
                </a:solidFill>
              </a:rPr>
              <a:t>Sources: Q2 Business Review page 1, Annual Report page 3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guard, follow-up and summary</a:t>
            </a:r>
            <a:endParaRPr lang="en-US" sz="2600" dirty="0"/>
          </a:p>
        </p:txBody>
      </p:sp>
      <p:sp>
        <p:nvSpPr>
          <p:cNvPr id="3" name="g1"/>
          <p:cNvSpPr/>
          <p:nvPr/>
        </p:nvSpPr>
        <p:spPr>
          <a:xfrm>
            <a:off x="457200" y="1097280"/>
            <a:ext cx="2651760" cy="34747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618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Not in the documents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83080"/>
            <a:ext cx="2194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"Who is the CEO of Acme Retail?"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"What is the dividend per share for FY2024-25?"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Both answered: could not find it; found_in_documents = False</a:t>
            </a:r>
            <a:endParaRPr lang="en-US" sz="1100" dirty="0"/>
          </a:p>
        </p:txBody>
      </p:sp>
      <p:sp>
        <p:nvSpPr>
          <p:cNvPr id="6" name="g2"/>
          <p:cNvSpPr/>
          <p:nvPr/>
        </p:nvSpPr>
        <p:spPr>
          <a:xfrm>
            <a:off x="3246120" y="1097280"/>
            <a:ext cx="2651760" cy="34747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74720" y="12618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Follow-up question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783080"/>
            <a:ext cx="2194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Q1: investigation threshold? 5% and INR 10 lakh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Q2: "And how soon must the commentary be written?"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Rewritten for retrieval, answer: within three working days of month-end close</a:t>
            </a:r>
            <a:endParaRPr lang="en-US" sz="1100" dirty="0"/>
          </a:p>
        </p:txBody>
      </p:sp>
      <p:sp>
        <p:nvSpPr>
          <p:cNvPr id="9" name="g3"/>
          <p:cNvSpPr/>
          <p:nvPr/>
        </p:nvSpPr>
        <p:spPr>
          <a:xfrm>
            <a:off x="6035040" y="1097280"/>
            <a:ext cx="2651760" cy="34747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63640" y="12618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Map-reduce summary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1783080"/>
            <a:ext cx="2194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Each chunk summarised, then combined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Variance policy: overview plus bullets on threshold, volume/price/mix split, commentary deadline and re-forecast trigger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on five test questions</a:t>
            </a:r>
            <a:endParaRPr lang="en-US" sz="2600" dirty="0"/>
          </a:p>
        </p:txBody>
      </p:sp>
      <p:sp>
        <p:nvSpPr>
          <p:cNvPr id="3" name="kpi0"/>
          <p:cNvSpPr/>
          <p:nvPr/>
        </p:nvSpPr>
        <p:spPr>
          <a:xfrm>
            <a:off x="457200" y="1188720"/>
            <a:ext cx="2651760" cy="201168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</a:rPr>
              <a:t>100%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57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retrieval hit rate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688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bg1"/>
                </a:solidFill>
              </a:rPr>
              <a:t>Right document retrieved for 5 of 5 questions</a:t>
            </a:r>
            <a:endParaRPr lang="en-US" sz="1150" dirty="0"/>
          </a:p>
        </p:txBody>
      </p:sp>
      <p:sp>
        <p:nvSpPr>
          <p:cNvPr id="7" name="kpi1"/>
          <p:cNvSpPr/>
          <p:nvPr/>
        </p:nvSpPr>
        <p:spPr>
          <a:xfrm>
            <a:off x="3291840" y="1188720"/>
            <a:ext cx="2651760" cy="20116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74720" y="13258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</a:rPr>
              <a:t>100%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2057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answer accuracy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4688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bg1"/>
                </a:solidFill>
              </a:rPr>
              <a:t>5 of 5 answers contained the expected fact (keyword match)</a:t>
            </a:r>
            <a:endParaRPr lang="en-US" sz="1150" dirty="0"/>
          </a:p>
        </p:txBody>
      </p:sp>
      <p:sp>
        <p:nvSpPr>
          <p:cNvPr id="11" name="kpi2"/>
          <p:cNvSpPr/>
          <p:nvPr/>
        </p:nvSpPr>
        <p:spPr>
          <a:xfrm>
            <a:off x="6126480" y="1188720"/>
            <a:ext cx="2651760" cy="201168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09360" y="13258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</a:rPr>
              <a:t>81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2057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web chunks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24688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bg1"/>
                </a:solidFill>
              </a:rPr>
              <a:t>Wikipedia page ingested and queried like any other document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accent5"/>
                </a:solidFill>
              </a:rPr>
              <a:t>Test set: forecast refresh timing, approval rule, variance threshold, CAC target, dashboard refresh time. Matching ignores spaces, dots and case. A five-question set is small, so treat this as a sanity check, not a benchmark.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 and how they were fixed</a:t>
            </a:r>
            <a:endParaRPr lang="en-US" sz="2600" dirty="0"/>
          </a:p>
        </p:txBody>
      </p:sp>
      <p:sp>
        <p:nvSpPr>
          <p:cNvPr id="3" name="ch0"/>
          <p:cNvSpPr/>
          <p:nvPr/>
        </p:nvSpPr>
        <p:spPr>
          <a:xfrm>
            <a:off x="457200" y="1097280"/>
            <a:ext cx="8229600" cy="1051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07008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Table misread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743200" y="1170432"/>
            <a:ext cx="56692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Default PDF text flattened a table, and an answer gave gross margin (29.2%) as contribution margin. Fix: layout-aware page reading keeps each row as 'label | value | value', plus a prompt hint. Re-run result: INR 4,820 crore and 8.4%.</a:t>
            </a:r>
            <a:endParaRPr lang="en-US" sz="1100" dirty="0"/>
          </a:p>
        </p:txBody>
      </p:sp>
      <p:sp>
        <p:nvSpPr>
          <p:cNvPr id="6" name="ch1"/>
          <p:cNvSpPr/>
          <p:nvPr/>
        </p:nvSpPr>
        <p:spPr>
          <a:xfrm>
            <a:off x="457200" y="2267712"/>
            <a:ext cx="8229600" cy="1051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3774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Retrieval miss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2340864"/>
            <a:ext cx="56692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The first run of the cross-document CAC question found only the Q2 figure (INR 418), and the model correctly said the full-year value was not in the retrieved passages. Cause: small chunks and top-5 across two PDFs. Fix: top-k raised to 8. Re-run: INR 418 vs INR 430 vs target INR 450, with sources from both PDFs.</a:t>
            </a:r>
            <a:endParaRPr lang="en-US" sz="1100" dirty="0"/>
          </a:p>
        </p:txBody>
      </p:sp>
      <p:sp>
        <p:nvSpPr>
          <p:cNvPr id="9" name="ch2"/>
          <p:cNvSpPr/>
          <p:nvPr/>
        </p:nvSpPr>
        <p:spPr>
          <a:xfrm>
            <a:off x="457200" y="3438144"/>
            <a:ext cx="8229600" cy="1051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547872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Setup and limits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3511296"/>
            <a:ext cx="56692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Missing PDF reader package (install llama-index-readers-file), free API limits and retired model names. Fix: provider switch in get_llm(), model from an environment variable, retry wrapper for 503 and 429.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Limitations, future scope and deliverables</a:t>
            </a:r>
            <a:endParaRPr lang="en-US" sz="2600" dirty="0"/>
          </a:p>
        </p:txBody>
      </p:sp>
      <p:sp>
        <p:nvSpPr>
          <p:cNvPr id="3" name="lim"/>
          <p:cNvSpPr/>
          <p:nvPr/>
        </p:nvSpPr>
        <p:spPr>
          <a:xfrm>
            <a:off x="457200" y="1097280"/>
            <a:ext cx="4023360" cy="2194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6187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Limitations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8308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Vector search only; related facts can fall outside top-k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Scanned PDFs need OCR first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LLM can still err, so sources are always shown</a:t>
            </a:r>
            <a:endParaRPr lang="en-US" sz="1250" dirty="0"/>
          </a:p>
        </p:txBody>
      </p:sp>
      <p:sp>
        <p:nvSpPr>
          <p:cNvPr id="6" name="fut"/>
          <p:cNvSpPr/>
          <p:nvPr/>
        </p:nvSpPr>
        <p:spPr>
          <a:xfrm>
            <a:off x="4663440" y="1097280"/>
            <a:ext cx="4023360" cy="2194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26187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Future scope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78308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Hybrid search (BM25 + vectors) and a re-ranker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Persistent vector DB (Chroma, FAISS)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Answer evaluation with a larger test set</a:t>
            </a:r>
            <a:endParaRPr lang="en-US" sz="1250" dirty="0"/>
          </a:p>
        </p:txBody>
      </p:sp>
      <p:sp>
        <p:nvSpPr>
          <p:cNvPr id="9" name="deliv"/>
          <p:cNvSpPr/>
          <p:nvPr/>
        </p:nvSpPr>
        <p:spPr>
          <a:xfrm>
            <a:off x="457200" y="3520440"/>
            <a:ext cx="8229600" cy="10972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630168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Deliverables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chemeClr val="bg1"/>
                </a:solidFill>
              </a:rPr>
              <a:t>Jupyter notebook (run end-to-end on Colab) · Streamlit app deployed from GitHub · this presentation</a:t>
            </a:r>
          </a:p>
          <a:p>
            <a:r>
              <a:rPr lang="en-US" sz="1250" b="1" dirty="0">
                <a:solidFill>
                  <a:schemeClr val="bg1"/>
                </a:solidFill>
              </a:rPr>
              <a:t>Code:  </a:t>
            </a:r>
            <a:r>
              <a:rPr lang="en-US" sz="1250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https://github.com/vishalsingh150394-bit/RAG_Document_Assistant.git</a:t>
            </a:r>
            <a:endParaRPr lang="en-US" sz="1250" dirty="0">
              <a:solidFill>
                <a:schemeClr val="bg1"/>
              </a:solidFill>
            </a:endParaRPr>
          </a:p>
          <a:p>
            <a:r>
              <a:rPr lang="en-US" sz="1400" b="1" dirty="0">
                <a:solidFill>
                  <a:schemeClr val="bg1"/>
                </a:solidFill>
              </a:rPr>
              <a:t>Live app: </a:t>
            </a:r>
            <a:r>
              <a:rPr lang="en-US" sz="1400" dirty="0" err="1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ragdocumentassistant.streamlit.app</a:t>
            </a:r>
            <a:endParaRPr lang="en-US" sz="1250" dirty="0">
              <a:solidFill>
                <a:schemeClr val="bg1"/>
              </a:solidFill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ockAssistant">
  <a:themeElements>
    <a:clrScheme name="StockAssistant">
      <a:dk1>
        <a:srgbClr val="1B2A41"/>
      </a:dk1>
      <a:lt1>
        <a:srgbClr val="FFFFFF"/>
      </a:lt1>
      <a:dk2>
        <a:srgbClr val="0B2545"/>
      </a:dk2>
      <a:lt2>
        <a:srgbClr val="EEF3F8"/>
      </a:lt2>
      <a:accent1>
        <a:srgbClr val="13A89E"/>
      </a:accent1>
      <a:accent2>
        <a:srgbClr val="E4572E"/>
      </a:accent2>
      <a:accent3>
        <a:srgbClr val="F2A541"/>
      </a:accent3>
      <a:accent4>
        <a:srgbClr val="3A6EA5"/>
      </a:accent4>
      <a:accent5>
        <a:srgbClr val="6C7A89"/>
      </a:accent5>
      <a:accent6>
        <a:srgbClr val="2E8B57"/>
      </a:accent6>
      <a:hlink>
        <a:srgbClr val="3A6EA5"/>
      </a:hlink>
      <a:folHlink>
        <a:srgbClr val="6C7A89"/>
      </a:folHlink>
    </a:clrScheme>
    <a:fontScheme name="StockAssistan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908</TotalTime>
  <Words>1033</Words>
  <Application>Microsoft Office PowerPoint</Application>
  <PresentationFormat>On-screen Show (16:9)</PresentationFormat>
  <Paragraphs>136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StockAssistant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RAG-Based Intelligent Document Assistant</dc:title>
  <dc:subject>PptxGenJS Presentation</dc:subject>
  <dc:creator>PptxGenJS</dc:creator>
  <cp:lastModifiedBy>Diksha Singh</cp:lastModifiedBy>
  <cp:revision>3</cp:revision>
  <dcterms:created xsi:type="dcterms:W3CDTF">2026-10-14T18:41:46Z</dcterms:created>
  <dcterms:modified xsi:type="dcterms:W3CDTF">2026-10-15T10:08:20Z</dcterms:modified>
</cp:coreProperties>
</file>